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f0d235e8c841ce" /><Relationship Type="http://schemas.openxmlformats.org/officeDocument/2006/relationships/extended-properties" Target="/docProps/app.xml" Id="R36dfdb63a0494fbf" /><Relationship Type="http://schemas.openxmlformats.org/officeDocument/2006/relationships/officeDocument" Target="/ppt/presentation.xml" Id="Rd927c62f736a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8a3690ff404da8"/>
  </p:sldMasterIdLst>
  <p:notesMasterIdLst>
    <p:notesMasterId xmlns:r="http://schemas.openxmlformats.org/officeDocument/2006/relationships" r:id="R5e5bdf416ea44ac5"/>
  </p:notesMasterIdLst>
  <p:sldIdLst>
    <p:sldId xmlns:r="http://schemas.openxmlformats.org/officeDocument/2006/relationships" id="256" r:id="R51e47788c5154676"/>
    <p:sldId xmlns:r="http://schemas.openxmlformats.org/officeDocument/2006/relationships" id="257" r:id="R06297d2ecbbd4967"/>
    <p:sldId xmlns:r="http://schemas.openxmlformats.org/officeDocument/2006/relationships" id="258" r:id="R658ba5c81eda4960"/>
    <p:sldId xmlns:r="http://schemas.openxmlformats.org/officeDocument/2006/relationships" id="259" r:id="Re21bbf7dd92a43c8"/>
    <p:sldId xmlns:r="http://schemas.openxmlformats.org/officeDocument/2006/relationships" id="260" r:id="R9bc72dccfa1b46e9"/>
    <p:sldId xmlns:r="http://schemas.openxmlformats.org/officeDocument/2006/relationships" id="261" r:id="Rfeae711cf7624b80"/>
    <p:sldId xmlns:r="http://schemas.openxmlformats.org/officeDocument/2006/relationships" id="262" r:id="R7277ba7469d94385"/>
    <p:sldId xmlns:r="http://schemas.openxmlformats.org/officeDocument/2006/relationships" id="263" r:id="Ra2561e000b684abb"/>
    <p:sldId xmlns:r="http://schemas.openxmlformats.org/officeDocument/2006/relationships" id="264" r:id="Rc465b6b966cd4ebb"/>
    <p:sldId xmlns:r="http://schemas.openxmlformats.org/officeDocument/2006/relationships" id="265" r:id="R35388aefb9484ebe"/>
    <p:sldId xmlns:r="http://schemas.openxmlformats.org/officeDocument/2006/relationships" id="266" r:id="R41a95fd7649942d8"/>
    <p:sldId xmlns:r="http://schemas.openxmlformats.org/officeDocument/2006/relationships" id="267" r:id="Rf0e8c0d9b5b444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d266999b247d8" /><Relationship Type="http://schemas.openxmlformats.org/officeDocument/2006/relationships/slideMaster" Target="/ppt/slideMasters/slideMaster1.xml" Id="Rb78a3690ff404da8" /><Relationship Type="http://schemas.openxmlformats.org/officeDocument/2006/relationships/notesMaster" Target="/ppt/notesMasters/notesMaster1.xml" Id="R5e5bdf416ea44ac5" /><Relationship Type="http://schemas.openxmlformats.org/officeDocument/2006/relationships/presProps" Target="/ppt/presProps.xml" Id="Rd6dfa271cce84cd9" /><Relationship Type="http://schemas.openxmlformats.org/officeDocument/2006/relationships/tableStyles" Target="/ppt/tableStyles.xml" Id="Rf78e0138a0e14648" /><Relationship Type="http://schemas.openxmlformats.org/officeDocument/2006/relationships/slide" Target="/ppt/slides/slide1.xml" Id="R51e47788c5154676" /><Relationship Type="http://schemas.openxmlformats.org/officeDocument/2006/relationships/slide" Target="/ppt/slides/slide2.xml" Id="R06297d2ecbbd4967" /><Relationship Type="http://schemas.openxmlformats.org/officeDocument/2006/relationships/slide" Target="/ppt/slides/slide3.xml" Id="R658ba5c81eda4960" /><Relationship Type="http://schemas.openxmlformats.org/officeDocument/2006/relationships/slide" Target="/ppt/slides/slide4.xml" Id="Re21bbf7dd92a43c8" /><Relationship Type="http://schemas.openxmlformats.org/officeDocument/2006/relationships/slide" Target="/ppt/slides/slide5.xml" Id="R9bc72dccfa1b46e9" /><Relationship Type="http://schemas.openxmlformats.org/officeDocument/2006/relationships/slide" Target="/ppt/slides/slide6.xml" Id="Rfeae711cf7624b80" /><Relationship Type="http://schemas.openxmlformats.org/officeDocument/2006/relationships/slide" Target="/ppt/slides/slide7.xml" Id="R7277ba7469d94385" /><Relationship Type="http://schemas.openxmlformats.org/officeDocument/2006/relationships/slide" Target="/ppt/slides/slide8.xml" Id="Ra2561e000b684abb" /><Relationship Type="http://schemas.openxmlformats.org/officeDocument/2006/relationships/slide" Target="/ppt/slides/slide9.xml" Id="Rc465b6b966cd4ebb" /><Relationship Type="http://schemas.openxmlformats.org/officeDocument/2006/relationships/slide" Target="/ppt/slides/slide10.xml" Id="R35388aefb9484ebe" /><Relationship Type="http://schemas.openxmlformats.org/officeDocument/2006/relationships/slide" Target="/ppt/slides/slide11.xml" Id="R41a95fd7649942d8" /><Relationship Type="http://schemas.openxmlformats.org/officeDocument/2006/relationships/slide" Target="/ppt/slides/slide12.xml" Id="Rf0e8c0d9b5b4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22b4e40c0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b39325d5d14a67" /><Relationship Type="http://schemas.openxmlformats.org/officeDocument/2006/relationships/notesMaster" Target="/ppt/notesMasters/notesMaster1.xml" Id="R4dfd25d4bf2542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45c6a84e64d6d" /><Relationship Type="http://schemas.openxmlformats.org/officeDocument/2006/relationships/notesMaster" Target="/ppt/notesMasters/notesMaster1.xml" Id="Rb63366bad740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a28dca8f054c70" /><Relationship Type="http://schemas.openxmlformats.org/officeDocument/2006/relationships/notesMaster" Target="/ppt/notesMasters/notesMaster1.xml" Id="R65f8326d771b4c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1c55f4f41442ff" /><Relationship Type="http://schemas.openxmlformats.org/officeDocument/2006/relationships/notesMaster" Target="/ppt/notesMasters/notesMaster1.xml" Id="R7694cec08fd542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04816674044437" /><Relationship Type="http://schemas.openxmlformats.org/officeDocument/2006/relationships/notesMaster" Target="/ppt/notesMasters/notesMaster1.xml" Id="R39064a231803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1d2dd554434146" /><Relationship Type="http://schemas.openxmlformats.org/officeDocument/2006/relationships/notesMaster" Target="/ppt/notesMasters/notesMaster1.xml" Id="R65cc59adc1b5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eb504d5461467d" /><Relationship Type="http://schemas.openxmlformats.org/officeDocument/2006/relationships/notesMaster" Target="/ppt/notesMasters/notesMaster1.xml" Id="R73804999b43745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54054eb1c469d" /><Relationship Type="http://schemas.openxmlformats.org/officeDocument/2006/relationships/notesMaster" Target="/ppt/notesMasters/notesMaster1.xml" Id="Ra61fbe9c8ad44e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dcf4ae0574434" /><Relationship Type="http://schemas.openxmlformats.org/officeDocument/2006/relationships/notesMaster" Target="/ppt/notesMasters/notesMaster1.xml" Id="Rc291def2c5a340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8bea5596f84d1c" /><Relationship Type="http://schemas.openxmlformats.org/officeDocument/2006/relationships/notesMaster" Target="/ppt/notesMasters/notesMaster1.xml" Id="R96fc41631ed84c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b80c1103e54f81" /><Relationship Type="http://schemas.openxmlformats.org/officeDocument/2006/relationships/notesMaster" Target="/ppt/notesMasters/notesMaster1.xml" Id="Rcf2877aa5eba4b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dafa590e584792" /><Relationship Type="http://schemas.openxmlformats.org/officeDocument/2006/relationships/notesMaster" Target="/ppt/notesMasters/notesMaster1.xml" Id="Rd0e0e517e916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docs/reports/comparison.md and brand/casa_verde_brand_bible.md.</a:t>
            </a:r>
          </a:p>
          <a:p xmlns:a="http://schemas.openxmlformats.org/drawingml/2006/main">
            <a:r>
              <a:t>Research cutoff: 16 September 2026. Website recaptures: 17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docs/reports/comparison.md.</a:t>
            </a:r>
          </a:p>
          <a:p xmlns:a="http://schemas.openxmlformats.org/drawingml/2006/main">
            <a:r>
              <a:t>All five firms are provisional fits because comparable pricing remains unverified.</a:t>
            </a:r>
          </a:p>
          <a:p xmlns:a="http://schemas.openxmlformats.org/drawingml/2006/main">
            <a:r>
              <a:t>Recurring project-linked reuse is documented for Stelly Selway and Studio Ferme. AIA corroborates Studio Ferme's Theresa project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docs/reports/comparison.md and the five competitor profiles.</a:t>
            </a:r>
          </a:p>
          <a:p xmlns:a="http://schemas.openxmlformats.org/drawingml/2006/main">
            <a:r>
              <a:t>Images: 17 September 2026 website recaptures from the five firm folders under assets/screenshots/websites.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https://urbanedesignstudios.com/</a:t>
            </a:r>
          </a:p>
          <a:p xmlns:a="http://schemas.openxmlformats.org/drawingml/2006/main">
            <a:r>
              <a:t>https://urbanedesignstudios.com/project/misty-hill-remodel/</a:t>
            </a:r>
          </a:p>
          <a:p xmlns:a="http://schemas.openxmlformats.org/drawingml/2006/main">
            <a:r>
              <a:t>https://urbanedesignstudios.com/project/big-view-remodel/</a:t>
            </a:r>
          </a:p>
          <a:p xmlns:a="http://schemas.openxmlformats.org/drawingml/2006/main">
            <a:r>
              <a:t>Profile: docs/reports/competitors/urbane-design.md</a:t>
            </a:r>
          </a:p>
          <a:p xmlns:a="http://schemas.openxmlformats.org/drawingml/2006/main">
            <a:r>
              <a:t>Image source: C:\Users\jooar\ds\projects\marketing-and-competitive-analisys-casa-verde\assets\screenshots\websites\urbane-design\recapture-2026-09-17\360-condo_gallery-01.png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https://www.stellyselway.com/about</a:t>
            </a:r>
          </a:p>
          <a:p xmlns:a="http://schemas.openxmlformats.org/drawingml/2006/main">
            <a:r>
              <a:t>https://www.stellyselway.com/project/rosedale</a:t>
            </a:r>
          </a:p>
          <a:p xmlns:a="http://schemas.openxmlformats.org/drawingml/2006/main">
            <a:r>
              <a:t>https://www.stellyselway.com/project/lafayette-avenue-austin</a:t>
            </a:r>
          </a:p>
          <a:p xmlns:a="http://schemas.openxmlformats.org/drawingml/2006/main">
            <a:r>
              <a:t>Profile: docs/reports/competitors/stelly-selway.md</a:t>
            </a:r>
          </a:p>
          <a:p xmlns:a="http://schemas.openxmlformats.org/drawingml/2006/main">
            <a:r>
              <a:t>Image source: C:\Users\jooar\ds\projects\marketing-and-competitive-analisys-casa-verde\assets\screenshots\websites\stelly-selway\recapture-2026-09-17\upper-mall_gallery-03.png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https://urbanspacedesign.com/about/</a:t>
            </a:r>
          </a:p>
          <a:p xmlns:a="http://schemas.openxmlformats.org/drawingml/2006/main">
            <a:r>
              <a:t>https://urbanspacedesign.com/project/eastresidence/</a:t>
            </a:r>
          </a:p>
          <a:p xmlns:a="http://schemas.openxmlformats.org/drawingml/2006/main">
            <a:r>
              <a:t>Profile: docs/reports/competitors/urbanspace-design-studio.md</a:t>
            </a:r>
          </a:p>
          <a:p xmlns:a="http://schemas.openxmlformats.org/drawingml/2006/main">
            <a:r>
              <a:t>Image source: C:\Users\jooar\ds\projects\marketing-and-competitive-analisys-casa-verde\assets\screenshots\websites\urbanspace-design-studio\recapture-2026-09-17\modern-penthouse_gallery-03.png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https://jfisherinteriors.com/about/</a:t>
            </a:r>
          </a:p>
          <a:p xmlns:a="http://schemas.openxmlformats.org/drawingml/2006/main">
            <a:r>
              <a:t>https://jfisherinteriors.com/portfolio/judges-hill/</a:t>
            </a:r>
          </a:p>
          <a:p xmlns:a="http://schemas.openxmlformats.org/drawingml/2006/main">
            <a:r>
              <a:t>https://jfisherinteriors.com/portfolio/hyde-park/</a:t>
            </a:r>
          </a:p>
          <a:p xmlns:a="http://schemas.openxmlformats.org/drawingml/2006/main">
            <a:r>
              <a:t>Profile: docs/reports/competitors/j-fisher-interiors.md</a:t>
            </a:r>
          </a:p>
          <a:p xmlns:a="http://schemas.openxmlformats.org/drawingml/2006/main">
            <a:r>
              <a:t>Image source: C:\Users\jooar\ds\projects\marketing-and-competitive-analisys-casa-verde\assets\screenshots\websites\j-fisher-interiors\recapture-2026-09-17\judges-hill_gallery-03.png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https://www.studioferme.com/about</a:t>
            </a:r>
          </a:p>
          <a:p xmlns:a="http://schemas.openxmlformats.org/drawingml/2006/main">
            <a:r>
              <a:t>https://www.studioferme.com/7th-street-cottage</a:t>
            </a:r>
          </a:p>
          <a:p xmlns:a="http://schemas.openxmlformats.org/drawingml/2006/main">
            <a:r>
              <a:t>https://www.aia.org/design-excellence/award-winners/theresa-passive-house</a:t>
            </a:r>
          </a:p>
          <a:p xmlns:a="http://schemas.openxmlformats.org/drawingml/2006/main">
            <a:r>
              <a:t>Profile: docs/reports/competitors/studio-ferme.md</a:t>
            </a:r>
          </a:p>
          <a:p xmlns:a="http://schemas.openxmlformats.org/drawingml/2006/main">
            <a:r>
              <a:t>Image source: C:\Users\jooar\ds\projects\marketing-and-competitive-analisys-casa-verde\assets\screenshots\websites\studio-ferme\recapture-2026-09-17\7th-street-cottage_gallery-01.png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docs/reports/comparison.md#positioning-map.</a:t>
            </a:r>
          </a:p>
          <a:p xmlns:a="http://schemas.openxmlformats.org/drawingml/2006/main">
            <a:r>
              <a:t>Horizontal axis: public material and sustainability evidence depth.</a:t>
            </a:r>
          </a:p>
          <a:p xmlns:a="http://schemas.openxmlformats.org/drawingml/2006/main">
            <a:r>
              <a:t>Vertical axis: demonstrated residential engagement scope.</a:t>
            </a:r>
          </a:p>
          <a:p xmlns:a="http://schemas.openxmlformats.org/drawingml/2006/main">
            <a:r>
              <a:t>Positions are categorical summaries of reviewed public evidence. They are not environmental scores or service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docs/reports/comparison.md#positioning-hypotheses-for-elenas-team.</a:t>
            </a:r>
          </a:p>
          <a:p xmlns:a="http://schemas.openxmlformats.org/drawingml/2006/main">
            <a:r>
              <a:t>Brand intent: brand/casa_verde_brand_bible.md.</a:t>
            </a:r>
          </a:p>
          <a:p xmlns:a="http://schemas.openxmlformats.org/drawingml/2006/main">
            <a:r>
              <a:t>These opportunities are hypotheses about communication. They do not prove unmet demand or absent competitor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synthesize docs/reports/comparison.md and brand/casa_verde_brand_bible.md.</a:t>
            </a:r>
          </a:p>
          <a:p xmlns:a="http://schemas.openxmlformats.org/drawingml/2006/main">
            <a:r>
              <a:t>Before publication, verify every material, supplier, cost, and availability claim against Casa Verde project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sign-off from the Casa Verde brand skill. Used once across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be006d953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26a7e856374891" /><Relationship Type="http://schemas.openxmlformats.org/officeDocument/2006/relationships/slideLayout" Target="/ppt/slideLayouts/slideLayout1.xml" Id="R525bdacf5ea1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bdacf5ea1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ea323661f4d59" /><Relationship Type="http://schemas.openxmlformats.org/officeDocument/2006/relationships/notesSlide" Target="/ppt/notesSlides/notesSlide1.xml" Id="Rf1bffcdc9036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ecafc2bed40c1" /><Relationship Type="http://schemas.openxmlformats.org/officeDocument/2006/relationships/notesSlide" Target="/ppt/notesSlides/notesSlide2.xml" Id="R8d2a6489ff1946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828bde304262" /><Relationship Type="http://schemas.openxmlformats.org/officeDocument/2006/relationships/image" Target="/ppt/media/image.png" Id="R6c3dbc60ae4244f7" /><Relationship Type="http://schemas.openxmlformats.org/officeDocument/2006/relationships/image" Target="/ppt/media/image2.png" Id="Rda58a8d16d1c4756" /><Relationship Type="http://schemas.openxmlformats.org/officeDocument/2006/relationships/image" Target="/ppt/media/image3.png" Id="R19b6cbdb7885493b" /><Relationship Type="http://schemas.openxmlformats.org/officeDocument/2006/relationships/image" Target="/ppt/media/image4.png" Id="Ra5888e969e8b4f7b" /><Relationship Type="http://schemas.openxmlformats.org/officeDocument/2006/relationships/image" Target="/ppt/media/image5.png" Id="R959d36424ca94954" /><Relationship Type="http://schemas.openxmlformats.org/officeDocument/2006/relationships/notesSlide" Target="/ppt/notesSlides/notesSlide3.xml" Id="Rffac2a426b2747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d1526adca4c71" /><Relationship Type="http://schemas.openxmlformats.org/officeDocument/2006/relationships/image" Target="/ppt/media/image6.png" Id="R893cb69a5df94c52" /><Relationship Type="http://schemas.openxmlformats.org/officeDocument/2006/relationships/notesSlide" Target="/ppt/notesSlides/notesSlide4.xml" Id="Rdfaacf13e04d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7fc76145e45fb" /><Relationship Type="http://schemas.openxmlformats.org/officeDocument/2006/relationships/image" Target="/ppt/media/image7.png" Id="Raa48cb63629c42a1" /><Relationship Type="http://schemas.openxmlformats.org/officeDocument/2006/relationships/notesSlide" Target="/ppt/notesSlides/notesSlide5.xml" Id="Rb00d1b52610443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7898b424494c" /><Relationship Type="http://schemas.openxmlformats.org/officeDocument/2006/relationships/image" Target="/ppt/media/image8.png" Id="Rb3fe33b4f5834ca9" /><Relationship Type="http://schemas.openxmlformats.org/officeDocument/2006/relationships/notesSlide" Target="/ppt/notesSlides/notesSlide6.xml" Id="R15d866191cd442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19cd3f6164307" /><Relationship Type="http://schemas.openxmlformats.org/officeDocument/2006/relationships/image" Target="/ppt/media/image9.png" Id="R63c31f9dd4c64477" /><Relationship Type="http://schemas.openxmlformats.org/officeDocument/2006/relationships/notesSlide" Target="/ppt/notesSlides/notesSlide7.xml" Id="R7630b5ab619045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420cfc67454a" /><Relationship Type="http://schemas.openxmlformats.org/officeDocument/2006/relationships/image" Target="/ppt/media/image10.png" Id="R53a1715ff9f44c44" /><Relationship Type="http://schemas.openxmlformats.org/officeDocument/2006/relationships/notesSlide" Target="/ppt/notesSlides/notesSlide8.xml" Id="Ra99fd7741d774d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046e943e940d4" /><Relationship Type="http://schemas.openxmlformats.org/officeDocument/2006/relationships/notesSlide" Target="/ppt/notesSlides/notesSlide9.xml" Id="Ra3b37f5a9c5644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c469f401f4e74" /><Relationship Type="http://schemas.openxmlformats.org/officeDocument/2006/relationships/notesSlide" Target="/ppt/notesSlides/notesSlide10.xml" Id="R86ee7823f77a43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a63a1fa1c413c" /><Relationship Type="http://schemas.openxmlformats.org/officeDocument/2006/relationships/notesSlide" Target="/ppt/notesSlides/notesSlide11.xml" Id="Rc8a7d6392ccc47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437a9631a4387" /><Relationship Type="http://schemas.openxmlformats.org/officeDocument/2006/relationships/notesSlide" Target="/ppt/notesSlides/notesSlide12.xml" Id="Rb1db7be4be1742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A5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B4A18-7985-4489-804C-01597E7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F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1A887-864E-46FA-A0E5-75315B8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2971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A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9F0E0-59CE-4B28-8AF6-4476226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0" cy="495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27F5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AEC31-CFE3-46A3-97EF-841B5581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CASA VERDE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44774-B7A9-4D41-A9C7-D66D7F80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24"/>
          </a:bodyPr>
          <a:lstStyle xmlns:a="http://schemas.openxmlformats.org/drawingml/2006/main"/>
          <a:p xmlns:a="http://schemas.openxmlformats.org/drawingml/2006/main">
            <a:pPr>
              <a:defRPr sz="420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Austin sustainable</a:t>
            </a:r>
          </a:p>
          <a:p xmlns:a="http://schemas.openxmlformats.org/drawingml/2006/main">
            <a:pPr>
              <a:defRPr sz="420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interiors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C08C6-4E6C-4A09-A7B3-43110077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A positioning story for the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7F2FB-608F-489D-918C-C5212DD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1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The strongest opening is a consistent project record around provenance, retention, care, and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EDAA7-DF37-4A1B-A173-EEE51E2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Internal working deck, 22 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B0A99-F8CF-4D72-8145-5E0A1665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2133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96B5A-819F-49CF-A043-1B46103E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Austin’s proof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5BBAB-9C76-4F47-B372-AC2ECBDB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9EBD8-FF30-4C7A-AB7B-5D48ACB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65FC-98BC-45DF-8E78-F02A0E8F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48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Reuse appears across the field. Public proof varies from broad claims to recurring project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E5F68-6CF3-4DA3-A202-2DD44DDF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31115-730F-4267-AA48-C146FE6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76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provisional competitors with unverified price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47B7A-C61B-423C-868A-12016B38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B9BB-848E-48AB-B039-293AB427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176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comparable public price ranges confirmed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C7AA5-F6EC-4A90-8C3D-BC3616E1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9D6E2-A327-470F-AC08-98CC37F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176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firms with reuse documented across projects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BF949-5D8A-4DCB-9D5D-38E63C1A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765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999C7-EF72-4D27-9075-5BE3BB0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1762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named project with outside corroboration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FE516-1BD9-4C46-9E43-23BC2A5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363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3562D-716C-4643-8D0F-8CDEE4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What matters for Casa Verde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F5176-2628-4FC0-B7AC-9386315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663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A client should be able to trace what stayed, where additions came from, how finishes were chosen, and how the room will age.</a:t>
            </a:r>
          </a:p>
        </p:txBody>
      </p:sp>
    </p:spTree>
    <p:extLst>
      <p:ext uri="{BB962C8B-B14F-4D97-AF65-F5344CB8AC3E}">
        <p14:creationId xmlns:p14="http://schemas.microsoft.com/office/powerpoint/2010/main" val="484487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C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0D91D-F702-4565-B158-6C91AE4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Five firms, five different kinds of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384DC-5FE9-4CBE-BD58-ACFAFAC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FC15F-1AD2-4BAC-96B4-79F4EA63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dbc60ae4244f7"/>
          <a:srcRect xmlns:a="http://schemas.openxmlformats.org/drawingml/2006/main" l="0" t="5934" r="0" b="59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66850"/>
            <a:ext cx="2095500" cy="2457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92CFA-7B33-45EE-86BD-EB5E4F9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Urbane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6DAE2-B53A-4249-B1EB-AE3E493E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Personal remodeling. Reuse appears in isolated cases.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8a8d16d1c4756"/>
          <a:srcRect xmlns:a="http://schemas.openxmlformats.org/drawingml/2006/main" l="25974" t="0" r="259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0" y="1466850"/>
            <a:ext cx="2095500" cy="2457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06D7-3531-41F9-879C-B62FE05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148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Stelly Selway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C61A7-BD34-46A2-A1B1-50BA1E2D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Maker-led older homes. Reuse appears across projects.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6cbdb7885493b"/>
          <a:srcRect xmlns:a="http://schemas.openxmlformats.org/drawingml/2006/main" l="21560" t="0" r="215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66850"/>
            <a:ext cx="2095500" cy="2457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E056C-8396-4067-8007-7A81BAFC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148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Urbanspace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C1380-7C74-4ADD-9591-785154D3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577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Broad service range. One detailed sustainable case.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88e969e8b4f7b"/>
          <a:srcRect xmlns:a="http://schemas.openxmlformats.org/drawingml/2006/main" l="0" t="10391" r="0" b="103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466850"/>
            <a:ext cx="2095500" cy="24574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EC62B-FC51-4B4C-B5A1-081EF56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148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J.Fisher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C9BC8-9AFC-4E14-878C-562997D9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Personal homes and close guidance. General low-VOC claims.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d36424ca94954"/>
          <a:srcRect xmlns:a="http://schemas.openxmlformats.org/drawingml/2006/main" l="0" t="4850" r="0" b="4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72650" y="1466850"/>
            <a:ext cx="2095500" cy="2457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B7011-AFD7-4FEB-831D-744A5DE2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8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1575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Studio Ferme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5593F-6B2F-430B-893C-973E959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577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Material life cycles and preservation. Availability unknown.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179BD-03F3-40EF-B6DA-821A487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27F5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27F5C"/>
                </a:solidFill>
                <a:latin typeface="Aptos"/>
                <a:ea typeface="Aptos"/>
                <a:cs typeface="Aptos"/>
              </a:rPr>
              <a:t>All five firms remain provisional because comparable pricing is unknown.</a:t>
            </a:r>
          </a:p>
        </p:txBody>
      </p:sp>
    </p:spTree>
    <p:extLst>
      <p:ext uri="{BB962C8B-B14F-4D97-AF65-F5344CB8AC3E}">
        <p14:creationId xmlns:p14="http://schemas.microsoft.com/office/powerpoint/2010/main" val="782484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A843A-E56C-4BA9-8D3B-C85C593D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Urbane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1F3E-9833-4119-A7CF-4C1021C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06B1F-D2F2-4F40-9288-49831CFF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cb69a5df94c52"/>
          <a:srcRect xmlns:a="http://schemas.openxmlformats.org/drawingml/2006/main" l="0" t="24142" r="0" b="2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59055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83B82-3288-49B7-BB70-3339837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CA632-1DD0-4845-A1C1-C31617C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WEBSITE RECAPTURE, 17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B100A-8162-40FE-A812-AA7449C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808BE-B891-4CBC-A30E-AF06528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Personal Austin interiors across construction, remodeling, and furniture.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D0DF5-77F5-4624-8C08-8ABC077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70FA7-D69A-47CB-AE3A-4D0CEE35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38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Reclaimed doors appear at Misty Hill. White oak, stone, and tile appear at Big View. Recurrence remains unknown.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DDB6D-2927-4593-A063-A0BC291E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916F9-8FB3-4A91-9552-A4A6016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Newer cases offer less written context, so documentation continuity is difficult to assess.</a:t>
            </a:r>
          </a:p>
        </p:txBody>
      </p:sp>
    </p:spTree>
    <p:extLst>
      <p:ext uri="{BB962C8B-B14F-4D97-AF65-F5344CB8AC3E}">
        <p14:creationId xmlns:p14="http://schemas.microsoft.com/office/powerpoint/2010/main" val="1982722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61BF0-B21F-4F33-8539-0909486D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Stelly Selway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B44D4-4C04-4982-B0E8-94F29943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B2349-C4FD-40DE-B857-EE1BC21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8cb63629c42a1"/>
          <a:srcRect xmlns:a="http://schemas.openxmlformats.org/drawingml/2006/main" l="13652" t="0" r="136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59055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F55A5-00D5-4A9D-BB6C-D62E9FD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64E45-5288-4525-88D3-42E28943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WEBSITE RECAPTURE, 17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4CF57-87E9-4071-86D3-82F8F97D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43587-7CAE-4252-88C8-D93AAA55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66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Austin and London interiors shaped by durable materials, vintage pieces, and maker relationships.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EE10C-E842-42D7-A189-E3043B66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1565D-1AF5-4B45-AD81-181BB137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38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Oak recurs in two cases. Reclaimed pine, soapstone, dead-stock canvas, and vintage pieces have named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8F0AE-6BC6-42E5-9ECB-96A40853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CA359-17E6-40B6-81F8-3920D23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Previous use, quantities, finish records, and care guidance vary by project.</a:t>
            </a:r>
          </a:p>
        </p:txBody>
      </p:sp>
    </p:spTree>
    <p:extLst>
      <p:ext uri="{BB962C8B-B14F-4D97-AF65-F5344CB8AC3E}">
        <p14:creationId xmlns:p14="http://schemas.microsoft.com/office/powerpoint/2010/main" val="1274422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E833C-A4DE-4AEB-A11E-B021CCA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Urbanspace Design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6C3DF-D557-4CC6-BC32-1D39047F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ACC8A-EBBB-40B6-8FDD-0D97AE06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33b4f5834ca9"/>
          <a:srcRect xmlns:a="http://schemas.openxmlformats.org/drawingml/2006/main" l="0" t="20945" r="0" b="20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59055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2108A-1A47-4D4D-935C-C8BB44A9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CCAA7-3753-42C9-AB85-7D6E208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WEBSITE RECAPTURE, 17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5381E-B5FB-4874-B6F8-72B74D9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E0424-E03F-4021-AD7B-5FB9DDE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Residential and commercial interiors shaped around how people use a 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06E52-0FAF-4B31-86EB-6233940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6D361-1117-475D-9C34-44BE72C4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9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East Residence names a reclaimed-wood handle, Taj Mahal stone, and panels matched to the existing kitchen.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946D1-4254-404F-969E-A63578EE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E9AF3-E64C-4C2A-A66F-E8DF9EA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Evidence of recurring sustainable practice remains unknown beyond East Residence.</a:t>
            </a:r>
          </a:p>
        </p:txBody>
      </p:sp>
    </p:spTree>
    <p:extLst>
      <p:ext uri="{BB962C8B-B14F-4D97-AF65-F5344CB8AC3E}">
        <p14:creationId xmlns:p14="http://schemas.microsoft.com/office/powerpoint/2010/main" val="1228331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CAA93-C51C-4A2D-8928-061A25D7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J.Fisher Interiors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A83EF-6CB3-4CF5-AAAC-272C5FB1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98383-E7FB-4104-8FA2-F9C4B9F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31f9dd4c64477"/>
          <a:srcRect xmlns:a="http://schemas.openxmlformats.org/drawingml/2006/main" l="3758" t="0" r="3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59055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C4F47-9B61-40AF-AF81-AB311430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EF81E-2FDC-4DA6-950D-5C8BC4B7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WEBSITE RECAPTURE, 17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333F6-50F0-4271-88EF-9028D4E6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97B3-B6AA-4674-8FAE-450EE22D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Personal homes shaped by craftsmanship, art, and close designer involvement.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4FE36-B43F-48E5-9A61-6F8E49EE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C21A0-4E27-45AD-9097-24A871F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White oak and soapstone recur in two cases. Existing pieces were reused at Judges Hill.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63A24-0729-41E4-B364-3E3A67F2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8C343-94FD-4E42-9D74-32A2620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Public pages do not connect broad low-VOC claims to named product or finish records.</a:t>
            </a:r>
          </a:p>
        </p:txBody>
      </p:sp>
    </p:spTree>
    <p:extLst>
      <p:ext uri="{BB962C8B-B14F-4D97-AF65-F5344CB8AC3E}">
        <p14:creationId xmlns:p14="http://schemas.microsoft.com/office/powerpoint/2010/main" val="2103871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A353A-CB5D-4990-A8E5-0925A1D5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Studio Ferme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6E94C-F6E3-4164-BB5A-F935056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7F0E9-BB7E-45CF-A03B-C3ADC115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1715ff9f44c44"/>
          <a:srcRect xmlns:a="http://schemas.openxmlformats.org/drawingml/2006/main" l="0" t="16555" r="0" b="16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90650"/>
            <a:ext cx="5905500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669C9-FC3B-4844-A53F-782EF70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F8A22-630B-4082-AD35-96BD40DA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WEBSITE RECAPTURE, 17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258EC-2E0D-418C-811B-99802139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0A8CF-B8A9-47F3-8114-0DF41160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621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Residential interiors guided by material life cycles, climate resilience, and daily comfort.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11773-5D2F-4E24-A3AA-65D44EE1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F038C-5D06-4AED-8E50-52C880D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838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The 7th Street Cottage reuses original shiplap. AIA corroborates the Theresa project and Studio Ferme’s interior-design credit.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7316C-416C-40B7-968C-182B3C9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14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OPEN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01FF7-D900-4B39-9AD3-B813858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52975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25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A sabbatical has no public return date. Comparable price and current intake remain unknown.</a:t>
            </a:r>
          </a:p>
        </p:txBody>
      </p:sp>
    </p:spTree>
    <p:extLst>
      <p:ext uri="{BB962C8B-B14F-4D97-AF65-F5344CB8AC3E}">
        <p14:creationId xmlns:p14="http://schemas.microsoft.com/office/powerpoint/2010/main" val="462648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41953-6208-44D2-AF83-B9A398E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Positioning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398B0-D3B9-4040-BFAD-DE09802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251D1-9DB3-434B-B959-7F68229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3346E-214A-4980-B0DE-593665E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115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Public evidence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DD793-C837-4F2D-8AE3-47936946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Demonstrated residential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C203-C421-4DBD-BC26-BD973CA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62600"/>
            <a:ext cx="800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A2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260BB-6717-46F9-B4FB-9A9854F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478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A2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F47C2-935D-42C0-985C-3C4B82BE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72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Broad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112E9-67E3-4E64-B33C-4B12AAB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72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Recurring project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B2764-F7DB-48DD-AC80-265514F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72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Outside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E1AC2-4CD8-429E-A4CD-81154B7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768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71DAA-700A-4256-8B08-F183B42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Whole 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A46D9-2650-4B05-B794-68633F83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Major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675D1-4CF3-4146-8CD2-779482F4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7F5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1BD8E-92EE-4178-B79A-B26054C2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907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Urbane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B1054-E4D0-4A5E-A948-E9FF1533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86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A4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6161C-1FD8-48C4-ADA9-A872CAE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J.Fisher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3F0A1-3160-4C32-9F66-3993F7A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A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51A08-4586-4252-A6AF-9E70D98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528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Urbanspace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08D9A-EA24-4D24-982F-48A0B073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7464F-0F98-48E0-AAAA-4E832B1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28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Stelly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477AB-FF44-451A-BB20-C3A97634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09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07DA2-74F2-48CD-8B8A-554E8BF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812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Studio Ferme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53F3E-90FC-4257-A58F-E484E7BD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2514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3"/>
          </a:solidFill>
          <a:ln xmlns:a="http://schemas.openxmlformats.org/drawingml/2006/main" w="19050">
            <a:solidFill>
              <a:srgbClr val="B27F5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7DF9F2-DF16-480D-A767-A21584CF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27F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27F5C"/>
                </a:solidFill>
                <a:latin typeface="Aptos"/>
                <a:ea typeface="Aptos"/>
                <a:cs typeface="Aptos"/>
              </a:rPr>
              <a:t>CASA VERDE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C7FD0-1791-4865-BE6B-A89216BE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Repeatable provenance, retention, care, and scope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86E11-40C0-4889-9D08-6C6F19E4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Proposed target based on brand intent. Casa Verde has no observed coordinate in this study.</a:t>
            </a:r>
          </a:p>
        </p:txBody>
      </p:sp>
    </p:spTree>
    <p:extLst>
      <p:ext uri="{BB962C8B-B14F-4D97-AF65-F5344CB8AC3E}">
        <p14:creationId xmlns:p14="http://schemas.microsoft.com/office/powerpoint/2010/main" val="1787900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5DF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51576-6897-4537-87B5-042DA171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Spaces Casa Verde can test and 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419A6-6D6F-43CD-972A-F7B8360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324CC-36AE-4654-A6F3-9314DB15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77C72-B2FD-43C6-AF3A-1F72A879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80056-509E-45CC-B70E-F40DC5F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43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Material ledgers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9A977-F5E9-4D37-9CDE-2287BC3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For every project, show what remained, where additions came from, the finish used, and care guidance.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C576D-5697-406C-995E-F2F28B8E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A4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36346-5A1C-46EA-B2DC-11244E8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43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19DF0-295A-4B0E-9A13-22D1599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43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Investment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20DE0-B481-4678-8DE8-6C8D896D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Explain what the USD 40k to 300k band includes. Separate design, procurement, furnishings, and construction.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1A4C4-54EC-4A76-8055-0FA4548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A4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C3D49-F840-4492-BA34-AC5885E1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D2B53-CFDE-45FC-842A-CE342A9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Native planting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5B20D-B711-4065-89FA-8DF814A8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Name species, site fit, care needs, and the reason each plant belongs in the room.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49F96-73DC-4C65-B8B4-BBCF265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A4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BE7A9-8030-4D47-9D2B-A31ABE2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B27F5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75268-F00E-442D-B7C9-FBB7694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4A5D3A"/>
                </a:solidFill>
                <a:latin typeface="Georgia"/>
                <a:ea typeface="Georgia"/>
                <a:cs typeface="Georgia"/>
              </a:rPr>
              <a:t>Visible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6381A-B137-4EF1-A388-DDB618F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Publish start windows, team roles, and the decisions clients make at each stage.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92036-D467-48CA-B248-7CAE8D3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292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A4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655B4-5024-4EF0-AE50-0CD8389E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These are positioning hypotheses. Casa Verde should publish only what its project records can support.</a:t>
            </a:r>
          </a:p>
        </p:txBody>
      </p:sp>
    </p:spTree>
    <p:extLst>
      <p:ext uri="{BB962C8B-B14F-4D97-AF65-F5344CB8AC3E}">
        <p14:creationId xmlns:p14="http://schemas.microsoft.com/office/powerpoint/2010/main" val="1769352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9FADE-E31E-4EE2-AC0F-33D18595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The next 30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83B33-FE37-4008-AE0C-8DB330A3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38BF8-CC20-487F-839C-732883CC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96E92-C8FF-4E4D-B8B8-BEC8A329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104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78D1C-8573-43A4-B2F7-6C8D811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0D684-07B6-4F7E-B2C1-F981E62B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4287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Audit three completed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A793C-A68C-46FD-B7B6-9D50DC5F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2880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Gather invoices, finish schedules, retained elements, supplier notes, and care guidance.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8A314-BD99-4037-8AFF-06EF76D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717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27F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95694-E4D0-4B10-8F17-65E3EA9E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1104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B7A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0DD35-D1DD-4048-A9AC-17A55045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C4A41-E9BA-48DC-B07E-F4824D99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Set one case study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D048-B66D-4726-A0D8-88C68E0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Use the same fields for brief, scope, original fabric, new materials, sources, finish, and care.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FFA0E-F950-48EB-BA8F-1A4C48A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27F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85C7F-0391-4775-B569-01B008D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104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A5D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FA5EA-A354-461D-ABC5-B07E757C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52910-7229-4198-8A89-64396131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290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Clarify the investment band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94E3C-CD67-40C9-A095-E914558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2910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Write two or three scope examples inside USD 40k to 300k. Keep fees and construction distinct.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9C1EE-04E8-438D-8634-561FC953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27F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B343A-70C2-41B7-8B6E-F3FDFEE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104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6B7A4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7CA15-54A5-4766-982E-58F2CAC9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8F4E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8F4ED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7E7C8-8050-4B07-82AB-F91C1AB3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292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2C2A26"/>
                </a:solidFill>
                <a:latin typeface="Georgia"/>
                <a:ea typeface="Georgia"/>
                <a:cs typeface="Georgia"/>
              </a:rPr>
              <a:t>Test the story with clients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819B5-2005-448A-9DE4-0445BFA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2925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C2A26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C2A26"/>
                </a:solidFill>
                <a:latin typeface="Aptos"/>
                <a:ea typeface="Aptos"/>
                <a:cs typeface="Aptos"/>
              </a:rPr>
              <a:t>Ask which records build trust, which details help self-selection, and what still feels unclear.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656F5-E288-4502-BE33-CFD2719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43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B7A4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A4C"/>
                </a:solidFill>
                <a:latin typeface="Aptos"/>
                <a:ea typeface="Aptos"/>
                <a:cs typeface="Aptos"/>
              </a:rPr>
              <a:t>Owner: Elena with one designer and the project coordinator</a:t>
            </a:r>
          </a:p>
        </p:txBody>
      </p:sp>
    </p:spTree>
    <p:extLst>
      <p:ext uri="{BB962C8B-B14F-4D97-AF65-F5344CB8AC3E}">
        <p14:creationId xmlns:p14="http://schemas.microsoft.com/office/powerpoint/2010/main" val="175672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C2A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1B2A0-1F6E-41DB-8594-1BA0E834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7F5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CAF2F-E62E-4E37-954F-A82F5CF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27F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E05E0-D4EA-416F-AB79-1C048CF2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798"/>
          </a:bodyPr>
          <a:lstStyle xmlns:a="http://schemas.openxmlformats.org/drawingml/2006/main"/>
          <a:p xmlns:a="http://schemas.openxmlformats.org/drawingml/2006/main">
            <a:pPr>
              <a:def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Casa Verde can make</a:t>
            </a:r>
          </a:p>
          <a:p xmlns:a="http://schemas.openxmlformats.org/drawingml/2006/main">
            <a:pPr>
              <a:def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the material story</a:t>
            </a:r>
          </a:p>
          <a:p xmlns:a="http://schemas.openxmlformats.org/drawingml/2006/main">
            <a:pPr>
              <a:def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defRPr>
            </a:pPr>
            <a:r>
              <a:rPr sz="4050" b="0" i="0">
                <a:solidFill>
                  <a:srgbClr val="F8F4ED"/>
                </a:solidFill>
                <a:latin typeface="Georgia"/>
                <a:ea typeface="Georgia"/>
                <a:cs typeface="Georgia"/>
              </a:rPr>
              <a:t>easier to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D002-B5C0-42C1-9A9E-269B137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E5DFD3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E5DFD3"/>
                </a:solidFill>
                <a:latin typeface="Georgia"/>
                <a:ea typeface="Georgia"/>
                <a:cs typeface="Georgia"/>
              </a:rPr>
              <a:t>The room keeps its grain. The project record explains why it stayed.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EDC2-862F-47D3-9DAE-E50C0118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B27F5C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B27F5C"/>
                </a:solidFill>
                <a:latin typeface="Georgia"/>
                <a:ea typeface="Georgia"/>
                <a:cs typeface="Georgia"/>
              </a:rPr>
              <a:t>Design that breathes.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0BDD1-D984-4E30-903D-C4484ED7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5DFD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5DFD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8871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2026-09-17T21:31:39.9940000Z</dcterms:created>
  <dcterms:modified xsi:type="dcterms:W3CDTF">2026-09-17T21:31:39.9940000Z</dcterms:modified>
</coreProperties>
</file>